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5e6148c4747e8" /><Relationship Type="http://schemas.openxmlformats.org/officeDocument/2006/relationships/extended-properties" Target="/docProps/app.xml" Id="Rb2090c76bd5540a7" /><Relationship Type="http://schemas.openxmlformats.org/officeDocument/2006/relationships/officeDocument" Target="/ppt/presentation.xml" Id="Ra64f8e05ced647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88c1c36a0142de"/>
  </p:sldMasterIdLst>
  <p:notesMasterIdLst>
    <p:notesMasterId xmlns:r="http://schemas.openxmlformats.org/officeDocument/2006/relationships" r:id="R221323d7165b49b6"/>
  </p:notesMasterIdLst>
  <p:sldIdLst>
    <p:sldId xmlns:r="http://schemas.openxmlformats.org/officeDocument/2006/relationships" id="256" r:id="R7b5cbe7602ac4762"/>
    <p:sldId xmlns:r="http://schemas.openxmlformats.org/officeDocument/2006/relationships" id="257" r:id="Raa0b1f7992184693"/>
    <p:sldId xmlns:r="http://schemas.openxmlformats.org/officeDocument/2006/relationships" id="258" r:id="R1bc5624226e24ded"/>
    <p:sldId xmlns:r="http://schemas.openxmlformats.org/officeDocument/2006/relationships" id="259" r:id="R140f0c99033548e2"/>
    <p:sldId xmlns:r="http://schemas.openxmlformats.org/officeDocument/2006/relationships" id="260" r:id="R5fe9028a88d245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8131331b6b4570" /><Relationship Type="http://schemas.openxmlformats.org/officeDocument/2006/relationships/slideMaster" Target="/ppt/slideMasters/slideMaster1.xml" Id="Rf488c1c36a0142de" /><Relationship Type="http://schemas.openxmlformats.org/officeDocument/2006/relationships/notesMaster" Target="/ppt/notesMasters/notesMaster1.xml" Id="R221323d7165b49b6" /><Relationship Type="http://schemas.openxmlformats.org/officeDocument/2006/relationships/presProps" Target="/ppt/presProps.xml" Id="R244c7124d4f94dbf" /><Relationship Type="http://schemas.openxmlformats.org/officeDocument/2006/relationships/tableStyles" Target="/ppt/tableStyles.xml" Id="R8bfca3d4aa1446fd" /><Relationship Type="http://schemas.openxmlformats.org/officeDocument/2006/relationships/slide" Target="/ppt/slides/slide1.xml" Id="R7b5cbe7602ac4762" /><Relationship Type="http://schemas.openxmlformats.org/officeDocument/2006/relationships/slide" Target="/ppt/slides/slide2.xml" Id="Raa0b1f7992184693" /><Relationship Type="http://schemas.openxmlformats.org/officeDocument/2006/relationships/slide" Target="/ppt/slides/slide3.xml" Id="R1bc5624226e24ded" /><Relationship Type="http://schemas.openxmlformats.org/officeDocument/2006/relationships/slide" Target="/ppt/slides/slide4.xml" Id="R140f0c99033548e2" /><Relationship Type="http://schemas.openxmlformats.org/officeDocument/2006/relationships/slide" Target="/ppt/slides/slide5.xml" Id="R5fe9028a88d245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263a2ca16f42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ec7a37a6274d09" /><Relationship Type="http://schemas.openxmlformats.org/officeDocument/2006/relationships/notesMaster" Target="/ppt/notesMasters/notesMaster1.xml" Id="Ree8967bd8f3d4a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b85ed235814538" /><Relationship Type="http://schemas.openxmlformats.org/officeDocument/2006/relationships/notesMaster" Target="/ppt/notesMasters/notesMaster1.xml" Id="Re20f2df02bda47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4739b88c474476" /><Relationship Type="http://schemas.openxmlformats.org/officeDocument/2006/relationships/notesMaster" Target="/ppt/notesMasters/notesMaster1.xml" Id="R2bfb83c8557e48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202978fc5542e0" /><Relationship Type="http://schemas.openxmlformats.org/officeDocument/2006/relationships/notesMaster" Target="/ppt/notesMasters/notesMaster1.xml" Id="Re763871c87624f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7675e382e84904" /><Relationship Type="http://schemas.openxmlformats.org/officeDocument/2006/relationships/notesMaster" Target="/ppt/notesMasters/notesMaster1.xml" Id="Rf7f290d570284a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9feb0098f4f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5a578e3d414373" /><Relationship Type="http://schemas.openxmlformats.org/officeDocument/2006/relationships/slideLayout" Target="/ppt/slideLayouts/slideLayout1.xml" Id="R028fa0cf9aaa47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8fa0cf9aaa47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2dd4739f74946" /><Relationship Type="http://schemas.openxmlformats.org/officeDocument/2006/relationships/notesSlide" Target="/ppt/notesSlides/notesSlide1.xml" Id="R637e11c7ae2342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3affbf1474152" /><Relationship Type="http://schemas.openxmlformats.org/officeDocument/2006/relationships/chart" Target="/ppt/slides/charts/chart1.xml" Id="R07a34c8486744f60" /><Relationship Type="http://schemas.openxmlformats.org/officeDocument/2006/relationships/notesSlide" Target="/ppt/notesSlides/notesSlide2.xml" Id="R4ef713f7ef6e47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8865f7dfb4475" /><Relationship Type="http://schemas.openxmlformats.org/officeDocument/2006/relationships/notesSlide" Target="/ppt/notesSlides/notesSlide3.xml" Id="Ra9da4867067c42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f40a87ffa4970" /><Relationship Type="http://schemas.openxmlformats.org/officeDocument/2006/relationships/notesSlide" Target="/ppt/notesSlides/notesSlide4.xml" Id="R0dc966061b094b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47093be8743bb" /><Relationship Type="http://schemas.openxmlformats.org/officeDocument/2006/relationships/notesSlide" Target="/ppt/notesSlides/notesSlide5.xml" Id="R421b8c1c6695409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 tiempo observado %</c:v>
          </c:tx>
          <c:spPr>
            <a:solidFill xmlns:a="http://schemas.openxmlformats.org/drawingml/2006/main">
              <a:srgbClr val="2875B9"/>
            </a:solidFill>
          </c:spPr>
          <c:cat>
            <c:strLit>
              <c:ptCount val="5"/>
              <c:pt idx="0">
                <c:v>MetalNova</c:v>
              </c:pt>
              <c:pt idx="1">
                <c:v>PackPro</c:v>
              </c:pt>
              <c:pt idx="2">
                <c:v>ElectraSupply</c:v>
              </c:pt>
              <c:pt idx="3">
                <c:v>OfiPlus</c:v>
              </c:pt>
              <c:pt idx="4">
                <c:v>MecaParts</c:v>
              </c:pt>
            </c:strLit>
          </c:cat>
          <c:val>
            <c:numLit>
              <c:formatCode>General</c:formatCode>
              <c:ptCount val="5"/>
              <c:pt idx="0">
                <c:v>45</c:v>
              </c:pt>
              <c:pt idx="1">
                <c:v>37</c:v>
              </c:pt>
              <c:pt idx="2">
                <c:v>4</c:v>
              </c:pt>
              <c:pt idx="3">
                <c:v>44.6</c:v>
              </c:pt>
              <c:pt idx="4">
                <c:v>41.3</c:v>
              </c:pt>
            </c:numLit>
          </c:val>
        </c:ser>
        <c:ser>
          <c:idx val="1"/>
          <c:order val="1"/>
          <c:tx>
            <c:v>SLA %</c:v>
          </c:tx>
          <c:spPr>
            <a:solidFill xmlns:a="http://schemas.openxmlformats.org/drawingml/2006/main">
              <a:srgbClr val="9DAFC0"/>
            </a:solidFill>
          </c:spPr>
          <c:cat>
            <c:strLit>
              <c:ptCount val="5"/>
              <c:pt idx="0">
                <c:v>MetalNova</c:v>
              </c:pt>
              <c:pt idx="1">
                <c:v>PackPro</c:v>
              </c:pt>
              <c:pt idx="2">
                <c:v>ElectraSupply</c:v>
              </c:pt>
              <c:pt idx="3">
                <c:v>OfiPlus</c:v>
              </c:pt>
              <c:pt idx="4">
                <c:v>MecaParts</c:v>
              </c:pt>
            </c:strLit>
          </c:cat>
          <c:val>
            <c:numLit>
              <c:formatCode>General</c:formatCode>
              <c:ptCount val="5"/>
              <c:pt idx="0">
                <c:v>95</c:v>
              </c:pt>
              <c:pt idx="1">
                <c:v>96</c:v>
              </c:pt>
              <c:pt idx="2">
                <c:v>97</c:v>
              </c:pt>
              <c:pt idx="3">
                <c:v>94</c:v>
              </c:pt>
              <c:pt idx="4">
                <c:v>95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F9C2D-C38F-429F-83E2-4AF6413C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Contratos de proveedores para 2027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EDEEA-A1CA-4853-B9B0-05E8BA68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77"/>
                </a:solidFill>
              </a:defRPr>
            </a:pPr>
            <a:r>
              <a:rPr sz="1125" b="0">
                <a:solidFill>
                  <a:srgbClr val="536477"/>
                </a:solidFill>
              </a:rPr>
              <a:t>TecnoFabril Iberia · Comité de Compras · 07/10/2026                                      1/5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82C27-4F56-4161-B2AA-B7D598BA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435"/>
                </a:solidFill>
              </a:defRPr>
            </a:pPr>
            <a:r>
              <a:rPr sz="2175" b="1">
                <a:solidFill>
                  <a:srgbClr val="172435"/>
                </a:solidFill>
              </a:rPr>
              <a:t>Propuesta para decisión de la dirección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788FB-B255-4E00-AFFF-FD76F4D1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19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35"/>
                </a:solidFill>
              </a:defRPr>
            </a:pPr>
            <a:r>
              <a:rPr sz="2250" b="0">
                <a:solidFill>
                  <a:srgbClr val="172435"/>
                </a:solidFill>
              </a:rPr>
              <a:t>Buscar una alternativa para ElectraSupply. Renegociar los otros cuatro contratos con objetivos de entrega verificables.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8EB7E-57C3-4E0F-A418-04D920F9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477"/>
                </a:solidFill>
              </a:defRPr>
            </a:pPr>
            <a:r>
              <a:rPr sz="1575" b="0">
                <a:solidFill>
                  <a:srgbClr val="536477"/>
                </a:solidFill>
              </a:rPr>
              <a:t>Servicio, calidad e incidencias: 521 pedidos emitidos y recibidos en julio-septiembre. Descuentos: gasto de 600 pedidos emitidos en ese trimestre.</a:t>
            </a:r>
          </a:p>
        </p:txBody>
      </p:sp>
    </p:spTree>
    <p:extLst>
      <p:ext uri="{BB962C8B-B14F-4D97-AF65-F5344CB8AC3E}">
        <p14:creationId xmlns:p14="http://schemas.microsoft.com/office/powerpoint/2010/main" val="2062532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F6A3D-4E66-46DC-BEFF-DE058F88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Servicio observado frente a los contratos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6E9EE-A59D-4863-8118-A141380E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77"/>
                </a:solidFill>
              </a:defRPr>
            </a:pPr>
            <a:r>
              <a:rPr sz="1125" b="0">
                <a:solidFill>
                  <a:srgbClr val="536477"/>
                </a:solidFill>
              </a:rPr>
              <a:t>TecnoFabril Iberia · Comité de Compras · 07/10/2026                                      2/5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62000" y="1504950"/>
          <a:ext xmlns:a="http://schemas.openxmlformats.org/drawingml/2006/main" cx="1047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a34c8486744f6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2267C-D9AD-4CF3-8DD9-409010FA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477"/>
                </a:solidFill>
              </a:defRPr>
            </a:pPr>
            <a:r>
              <a:rPr sz="1425" b="0">
                <a:solidFill>
                  <a:srgbClr val="536477"/>
                </a:solidFill>
              </a:rPr>
              <a:t>Base Q3: 521 pedidos. Excluidos: 45 recibidos del 01 al 07/10 y 34 después del 07/10. Ninguna recepción de octubre entra en estas tasas.</a:t>
            </a:r>
          </a:p>
        </p:txBody>
      </p:sp>
    </p:spTree>
    <p:extLst>
      <p:ext uri="{BB962C8B-B14F-4D97-AF65-F5344CB8AC3E}">
        <p14:creationId xmlns:p14="http://schemas.microsoft.com/office/powerpoint/2010/main" val="507646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8F787-0006-49C2-86CD-004EAE6E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Calidad y condiciones comerciales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7DC06-FE51-4BBE-9F0B-6A2D2169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77"/>
                </a:solidFill>
              </a:defRPr>
            </a:pPr>
            <a:r>
              <a:rPr sz="1125" b="0">
                <a:solidFill>
                  <a:srgbClr val="536477"/>
                </a:solidFill>
              </a:rPr>
              <a:t>TecnoFabril Iberia · Comité de Compras · 07/10/2026                                      3/5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1991A-2F41-4006-A1D2-904908C1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435"/>
                </a:solidFill>
              </a:defRPr>
            </a:pPr>
            <a:r>
              <a:rPr sz="1950" b="1">
                <a:solidFill>
                  <a:srgbClr val="172435"/>
                </a:solidFill>
              </a:rPr>
              <a:t>Rechazo observado / máximo contractual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A639F-9D13-4D96-9E1D-8062467D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435"/>
                </a:solidFill>
              </a:defRPr>
            </a:pPr>
            <a:r>
              <a:rPr sz="1650" b="0">
                <a:solidFill>
                  <a:srgbClr val="172435"/>
                </a:solidFill>
              </a:rPr>
              <a:t>MetalNova: 1.11 % / 2.0 %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4B574-AFEB-4929-814D-093F6E08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435"/>
                </a:solidFill>
              </a:defRPr>
            </a:pPr>
            <a:r>
              <a:rPr sz="1650" b="0">
                <a:solidFill>
                  <a:srgbClr val="172435"/>
                </a:solidFill>
              </a:rPr>
              <a:t>PackPro: 0.67 % / 1.5 %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DA6D4-F71C-42D0-8D81-373F09EC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435"/>
                </a:solidFill>
              </a:defRPr>
            </a:pPr>
            <a:r>
              <a:rPr sz="1650" b="0">
                <a:solidFill>
                  <a:srgbClr val="172435"/>
                </a:solidFill>
              </a:rPr>
              <a:t>ElectraSupply: 0.66 % / 1.0 %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98B5D-B9FD-42EC-BE80-501F5BE6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435"/>
                </a:solidFill>
              </a:defRPr>
            </a:pPr>
            <a:r>
              <a:rPr sz="1650" b="0">
                <a:solidFill>
                  <a:srgbClr val="172435"/>
                </a:solidFill>
              </a:rPr>
              <a:t>OfiPlus: 0.40 % / 2.5 %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108EE-F96F-45F8-A172-E7C11622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435"/>
                </a:solidFill>
              </a:defRPr>
            </a:pPr>
            <a:r>
              <a:rPr sz="1650" b="0">
                <a:solidFill>
                  <a:srgbClr val="172435"/>
                </a:solidFill>
              </a:rPr>
              <a:t>MecaParts: 0.31 % / 1.5 %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56F57-1EA0-4462-AC55-A86BB567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3952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35"/>
                </a:solidFill>
              </a:defRPr>
            </a:pPr>
            <a:r>
              <a:rPr sz="1575" b="0">
                <a:solidFill>
                  <a:srgbClr val="172435"/>
                </a:solidFill>
              </a:rPr>
              <a:t>Los cinco proveedores quedan por debajo del máximo de rechazo. La base es unidades de los 521 pedidos; confirmar si son unidades recibidas. El índice de precio es relativo a 100.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F2C9B-B5C5-49DA-9442-8F685800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00550"/>
            <a:ext cx="3952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477"/>
                </a:solidFill>
              </a:defRPr>
            </a:pPr>
            <a:r>
              <a:rPr sz="1500" b="0">
                <a:solidFill>
                  <a:srgbClr val="536477"/>
                </a:solidFill>
              </a:rPr>
              <a:t>Índices ofertados: MetalNova 103 · PackPro 99 · ElectraSupply 96 · OfiPlus 101 · MecaParts 98.</a:t>
            </a:r>
          </a:p>
        </p:txBody>
      </p:sp>
    </p:spTree>
    <p:extLst>
      <p:ext uri="{BB962C8B-B14F-4D97-AF65-F5344CB8AC3E}">
        <p14:creationId xmlns:p14="http://schemas.microsoft.com/office/powerpoint/2010/main" val="21192978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98188-E4F8-4BCC-A58D-DE48E5A7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Recomendación por proveedor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1156B-5A9F-48F1-BFE0-20742292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77"/>
                </a:solidFill>
              </a:defRPr>
            </a:pPr>
            <a:r>
              <a:rPr sz="1125" b="0">
                <a:solidFill>
                  <a:srgbClr val="536477"/>
                </a:solidFill>
              </a:rPr>
              <a:t>TecnoFabril Iberia · Comité de Compras · 07/10/2026                                      4/5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B0026-DB98-4709-A10A-92F63BBF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ElectraSupply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19EE7-B9AA-4285-9B79-15B0D6AC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382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435"/>
                </a:solidFill>
              </a:defRPr>
            </a:pPr>
            <a:r>
              <a:rPr sz="1650" b="1">
                <a:solidFill>
                  <a:srgbClr val="172435"/>
                </a:solidFill>
              </a:rPr>
              <a:t>Buscar una alternativa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416DC-1F85-46E8-AB3D-289E631C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3827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435"/>
                </a:solidFill>
              </a:defRPr>
            </a:pPr>
            <a:r>
              <a:rPr sz="1425" b="0">
                <a:solidFill>
                  <a:srgbClr val="172435"/>
                </a:solidFill>
              </a:rPr>
              <a:t>4/101 a tiempo (4,0 %); 11/11 urgentes tarde. Índice 96.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4AA72-BE7D-4595-99AC-27FBBA2A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MetalNova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A9F87-B0E3-441C-86EF-423C24CC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435"/>
                </a:solidFill>
              </a:defRPr>
            </a:pPr>
            <a:r>
              <a:rPr sz="1650" b="1">
                <a:solidFill>
                  <a:srgbClr val="172435"/>
                </a:solidFill>
              </a:rPr>
              <a:t>Renegociar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21FB0-1C97-41E2-9DD8-79530859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435"/>
                </a:solidFill>
              </a:defRPr>
            </a:pPr>
            <a:r>
              <a:rPr sz="1425" b="0">
                <a:solidFill>
                  <a:srgbClr val="172435"/>
                </a:solidFill>
              </a:rPr>
              <a:t>54/120 a tiempo (45,0 %); índice 103; aclarar materia prima.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474F4-3322-408B-B30C-20CE70CE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PackPro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79F01-9EC6-451F-B653-96C6EC47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242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435"/>
                </a:solidFill>
              </a:defRPr>
            </a:pPr>
            <a:r>
              <a:rPr sz="1650" b="1">
                <a:solidFill>
                  <a:srgbClr val="172435"/>
                </a:solidFill>
              </a:rPr>
              <a:t>Renegociar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E5B66-78A0-4543-B117-6EA375EB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242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435"/>
                </a:solidFill>
              </a:defRPr>
            </a:pPr>
            <a:r>
              <a:rPr sz="1425" b="0">
                <a:solidFill>
                  <a:srgbClr val="172435"/>
                </a:solidFill>
              </a:rPr>
              <a:t>37/100 a tiempo; descuento extra a 24 meses sin cuantificar.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F46DE-F5CE-4F7F-8C47-52E06FE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OfiPlus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B08F0-0FF6-497D-AB6F-B7B4FF5B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435"/>
                </a:solidFill>
              </a:defRPr>
            </a:pPr>
            <a:r>
              <a:rPr sz="1650" b="1">
                <a:solidFill>
                  <a:srgbClr val="172435"/>
                </a:solidFill>
              </a:rPr>
              <a:t>Renegociar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50734-87CE-44AF-9160-1452FD93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435"/>
                </a:solidFill>
              </a:defRPr>
            </a:pPr>
            <a:r>
              <a:rPr sz="1425" b="0">
                <a:solidFill>
                  <a:srgbClr val="172435"/>
                </a:solidFill>
              </a:rPr>
              <a:t>33/74 a tiempo; índice 101; no hay descuento vigente.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AA069-398D-4B73-9E05-339F5581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MecaParts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353CC-BC1F-41F6-A5C4-AAB99BD7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01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435"/>
                </a:solidFill>
              </a:defRPr>
            </a:pPr>
            <a:r>
              <a:rPr sz="1650" b="1">
                <a:solidFill>
                  <a:srgbClr val="172435"/>
                </a:solidFill>
              </a:rPr>
              <a:t>Renegociar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A61B4-EB03-4D91-AC70-E76D7EA4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017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435"/>
                </a:solidFill>
              </a:defRPr>
            </a:pPr>
            <a:r>
              <a:rPr sz="1425" b="0">
                <a:solidFill>
                  <a:srgbClr val="172435"/>
                </a:solidFill>
              </a:rPr>
              <a:t>52/126 a tiempo; 4/30 en septiembre; definir stock compartido.</a:t>
            </a:r>
          </a:p>
        </p:txBody>
      </p:sp>
    </p:spTree>
    <p:extLst>
      <p:ext uri="{BB962C8B-B14F-4D97-AF65-F5344CB8AC3E}">
        <p14:creationId xmlns:p14="http://schemas.microsoft.com/office/powerpoint/2010/main" val="754563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A7EC1-91A3-4E1C-B5E6-BF14F494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Acciones antes de firmar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79F25-6FBA-4B2E-B75B-70CD72CD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77"/>
                </a:solidFill>
              </a:defRPr>
            </a:pPr>
            <a:r>
              <a:rPr sz="1125" b="0">
                <a:solidFill>
                  <a:srgbClr val="536477"/>
                </a:solidFill>
              </a:rPr>
              <a:t>TecnoFabril Iberia · Comité de Compras · 07/10/2026                                      5/5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BCE2B-99FE-454E-A825-CE1EA2EE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435"/>
                </a:solidFill>
              </a:defRPr>
            </a:pPr>
            <a:r>
              <a:rPr sz="1725" b="0">
                <a:solidFill>
                  <a:srgbClr val="172435"/>
                </a:solidFill>
              </a:rPr>
              <a:t>Compras: pedir planes de recuperación de entregas con metas, fechas y revisión mensual.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F4644-8BFD-46E7-9646-30732C6B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435"/>
                </a:solidFill>
              </a:defRPr>
            </a:pPr>
            <a:r>
              <a:rPr sz="1725" b="0">
                <a:solidFill>
                  <a:srgbClr val="172435"/>
                </a:solidFill>
              </a:rPr>
              <a:t>Calidad y Operaciones: validar el servicio actualizado, sobre todo urgentes y diferencias por centro.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CF414-8625-4219-8BD7-D88F6918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435"/>
                </a:solidFill>
              </a:defRPr>
            </a:pPr>
            <a:r>
              <a:rPr sz="1725" b="0">
                <a:solidFill>
                  <a:srgbClr val="172435"/>
                </a:solidFill>
              </a:rPr>
              <a:t>Compras: cerrar por escrito precio, descuento, umbral trimestral y alcance de cada categoría.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5E048-9451-40DD-888C-42B7A31F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435"/>
                </a:solidFill>
              </a:defRPr>
            </a:pPr>
            <a:r>
              <a:rPr sz="1725" b="0">
                <a:solidFill>
                  <a:srgbClr val="172435"/>
                </a:solidFill>
              </a:rPr>
              <a:t>Dirección: aprobar cualquier sustitución tras verificar capacidad alternativa y riesgo de transición.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B8849-8215-4652-AD2D-B19C4E2E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477"/>
                </a:solidFill>
              </a:defRPr>
            </a:pPr>
            <a:r>
              <a:rPr sz="1275" b="0">
                <a:solidFill>
                  <a:srgbClr val="536477"/>
                </a:solidFill>
              </a:rPr>
              <a:t>Umbrales propuestos con gasto de 600 pedidos emitidos Q3, aunque 79 se recibieran en octubre. No son acuerdos. No consta coste fiable de retrasos ni rechazos.</a:t>
            </a:r>
          </a:p>
        </p:txBody>
      </p:sp>
    </p:spTree>
    <p:extLst>
      <p:ext uri="{BB962C8B-B14F-4D97-AF65-F5344CB8AC3E}">
        <p14:creationId xmlns:p14="http://schemas.microsoft.com/office/powerpoint/2010/main" val="932957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2026-10-07T16:28:19.5770000Z</dcterms:created>
  <dcterms:modified xsi:type="dcterms:W3CDTF">2026-10-07T16:28:19.5770000Z</dcterms:modified>
</coreProperties>
</file>